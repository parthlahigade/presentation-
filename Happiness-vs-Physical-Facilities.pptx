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embeddedFontLst>
    <p:embeddedFont>
      <p:font typeface="Noto Serif"/>
      <p:regular r:id="rId201314"/>
    </p:embeddedFont>
    <p:embeddedFont>
      <p:font typeface="Noto Serif Medium"/>
      <p:regular r:id="rId201315"/>
    </p:embeddedFont>
    <p:embeddedFont>
      <p:font typeface="Noto Serif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image" Target="../media/image-7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39414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spc="-74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Happiness vs. Physical Facilities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85891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What really drives well-being — and why the things we assume will make us happy often fall short.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3376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spc="-74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What "Happiness" Means in Science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802434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Happiness isn't just a feeling — it's measurable. Scientists define it as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positive emotions plus life satisfaction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, where the positive outweighs the negative overall.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619897"/>
            <a:ext cx="10868745" cy="1404243"/>
          </a:xfrm>
          <a:prstGeom prst="roundRect">
            <a:avLst>
              <a:gd name="adj" fmla="val 5653"/>
            </a:avLst>
          </a:prstGeom>
          <a:solidFill>
            <a:srgbClr val="F2EDE5"/>
          </a:solidFill>
          <a:ln w="6350">
            <a:solidFill>
              <a:srgbClr val="CCC4B8"/>
            </a:solidFill>
            <a:prstDash val="solid"/>
          </a:ln>
          <a:effectLst>
            <a:outerShdw sx="100000" sy="100000" kx="0" ky="0" algn="bl" rotWithShape="0" blurRad="127" dist="24130" dir="2700000">
              <a:srgbClr val="ccc4b8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7825" y="3626247"/>
            <a:ext cx="5428023" cy="1391543"/>
          </a:xfrm>
          <a:custGeom>
            <a:avLst/>
            <a:gdLst/>
            <a:ahLst/>
            <a:cxnLst/>
            <a:rect l="l" t="t" r="r" b="b"/>
            <a:pathLst>
              <a:path w="5428023" h="1391543">
                <a:moveTo>
                  <a:pt x="66156" y="0"/>
                </a:moveTo>
                <a:lnTo>
                  <a:pt x="5428023" y="0"/>
                </a:lnTo>
                <a:lnTo>
                  <a:pt x="5428023" y="1391543"/>
                </a:lnTo>
                <a:lnTo>
                  <a:pt x="66156" y="1391543"/>
                </a:lnTo>
                <a:arcTo hR="66158" wR="66156" stAng="5400000" swAng="5400000"/>
                <a:lnTo>
                  <a:pt x="0" y="66158"/>
                </a:lnTo>
                <a:arcTo hR="66158" wR="66156" stAng="10800000" swAng="5400000"/>
                <a:close/>
              </a:path>
            </a:pathLst>
          </a:custGeom>
          <a:solidFill>
            <a:srgbClr val="F2EDE5"/>
          </a:solidFill>
          <a:ln/>
        </p:spPr>
      </p:sp>
      <p:sp>
        <p:nvSpPr>
          <p:cNvPr id="6" name="Text 4"/>
          <p:cNvSpPr/>
          <p:nvPr/>
        </p:nvSpPr>
        <p:spPr>
          <a:xfrm>
            <a:off x="856832" y="3815259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37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Hedonic Happiness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56832" y="4223941"/>
            <a:ext cx="50500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pursuit of pleasure and comfort — enjoying good food, leisure, and positive experiences.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095848" y="3626247"/>
            <a:ext cx="5428023" cy="1391543"/>
          </a:xfrm>
          <a:custGeom>
            <a:avLst/>
            <a:gdLst/>
            <a:ahLst/>
            <a:cxnLst/>
            <a:rect l="l" t="t" r="r" b="b"/>
            <a:pathLst>
              <a:path w="5428023" h="1391543">
                <a:moveTo>
                  <a:pt x="0" y="0"/>
                </a:moveTo>
                <a:lnTo>
                  <a:pt x="5361866" y="0"/>
                </a:lnTo>
                <a:arcTo hR="66158" wR="66156" stAng="16200000" swAng="5400000"/>
                <a:lnTo>
                  <a:pt x="5428023" y="1325385"/>
                </a:lnTo>
                <a:arcTo hR="66158" wR="66156" stAng="0" swAng="5400000"/>
                <a:lnTo>
                  <a:pt x="0" y="1391543"/>
                </a:lnTo>
                <a:lnTo>
                  <a:pt x="0" y="0"/>
                </a:lnTo>
                <a:close/>
              </a:path>
            </a:pathLst>
          </a:custGeom>
          <a:solidFill>
            <a:srgbClr val="F2EDE5"/>
          </a:solidFill>
          <a:ln/>
        </p:spPr>
      </p:sp>
      <p:sp>
        <p:nvSpPr>
          <p:cNvPr id="9" name="Shape 7"/>
          <p:cNvSpPr/>
          <p:nvPr/>
        </p:nvSpPr>
        <p:spPr>
          <a:xfrm>
            <a:off x="6095848" y="3626247"/>
            <a:ext cx="25399" cy="1391543"/>
          </a:xfrm>
          <a:prstGeom prst="roundRect">
            <a:avLst>
              <a:gd name="adj" fmla="val 50001"/>
            </a:avLst>
          </a:prstGeom>
          <a:solidFill>
            <a:srgbClr val="CCC4B8"/>
          </a:solidFill>
          <a:ln/>
        </p:spPr>
      </p:sp>
      <p:sp>
        <p:nvSpPr>
          <p:cNvPr id="10" name="Text 8"/>
          <p:cNvSpPr/>
          <p:nvPr/>
        </p:nvSpPr>
        <p:spPr>
          <a:xfrm>
            <a:off x="6284854" y="3815259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37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Eudaimonic Happiness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284854" y="4223941"/>
            <a:ext cx="50500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Deep fulfillment from purpose, growth, and living in alignment with your values.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99777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spc="-74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The Promise of Physical Facilities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064544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We often assume better facilities — gyms, parks, clinics, amenities — will make us healthier and happier. There's truth to this, but the relationship runs both ways.</a:t>
            </a:r>
            <a:endParaRPr lang="en-US" sz="1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184426"/>
            <a:ext cx="6296860" cy="144234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77479" y="3398838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37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Emotional Well-Being → Physical Health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977479" y="3807520"/>
            <a:ext cx="576644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Positive emotions are linked to better immunity, lower inflammation, and longer life.</a:t>
            </a:r>
            <a:endParaRPr lang="en-US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815780"/>
            <a:ext cx="6296860" cy="144234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77479" y="5030192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37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Physical Health → Emotional Well-Being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977479" y="5438874"/>
            <a:ext cx="576644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Good health enables participation in life, reducing suffering and expanding opportunity.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3797"/>
            <a:ext cx="10868745" cy="110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spc="-70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Where Facilities Help — And What They Can't Replace</a:t>
            </a:r>
            <a:endParaRPr lang="en-US" sz="3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48384"/>
            <a:ext cx="6913390" cy="39176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13400" y="2056507"/>
            <a:ext cx="3523070" cy="553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spc="-35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Active Leisure Supports Happiness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013400" y="2776438"/>
            <a:ext cx="3523070" cy="1098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Sports, hobbies, and creative pursuits consistently boost well-being. But </a:t>
            </a:r>
            <a:pPr algn="l" indent="0" marL="0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passive leisure</a:t>
            </a:r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binge-watching TV, scrolling — often doesn't.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8013400" y="4106069"/>
            <a:ext cx="3523070" cy="19050"/>
          </a:xfrm>
          <a:prstGeom prst="roundRect">
            <a:avLst>
              <a:gd name="adj" fmla="val 49999"/>
            </a:avLst>
          </a:prstGeom>
          <a:solidFill>
            <a:srgbClr val="4C4C4C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8013400" y="4356199"/>
            <a:ext cx="3523070" cy="553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spc="-35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Spirituality Goes Beyond Amenities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013400" y="5076130"/>
            <a:ext cx="3523070" cy="1098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 sense of meaning, hope, and connection to something larger shapes healthier choices and deeper resilience — no facility required.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1088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spc="-74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The Money Trap: More Space, More Status ≠ More Happiness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88480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2264866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37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The Easterlin Paradox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749153"/>
            <a:ext cx="520379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Over decades, GDP has risen sharply — yet average happiness has remained nearly flat. More income helps up to a point, but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social comparison and rising expectations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quickly erode the gains.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332776" y="4171454"/>
            <a:ext cx="5203794" cy="1039416"/>
          </a:xfrm>
          <a:prstGeom prst="roundRect">
            <a:avLst>
              <a:gd name="adj" fmla="val 7638"/>
            </a:avLst>
          </a:prstGeom>
          <a:solidFill>
            <a:srgbClr val="E8E6E3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783" y="4464546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47024" y="4388743"/>
            <a:ext cx="440053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Once basic needs are met, relative standing matters more than absolute wealth.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577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spc="-71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The Strongest Predictors of Happiness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430040"/>
            <a:ext cx="1147833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Research consistently points to the same pillars. The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PERMA model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captures what truly sustains well-being.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1475" y="1904702"/>
            <a:ext cx="3508486" cy="2032397"/>
          </a:xfrm>
          <a:prstGeom prst="roundRect">
            <a:avLst>
              <a:gd name="adj" fmla="val 3723"/>
            </a:avLst>
          </a:prstGeom>
          <a:solidFill>
            <a:srgbClr val="F2EDE5"/>
          </a:solidFill>
          <a:ln w="6350">
            <a:solidFill>
              <a:srgbClr val="E6DED2"/>
            </a:solidFill>
            <a:prstDash val="solid"/>
          </a:ln>
          <a:effectLst>
            <a:outerShdw sx="100000" sy="100000" kx="0" ky="0" algn="bl" rotWithShape="0" blurRad="127" dist="22860" dir="2700000">
              <a:srgbClr val="e6ded2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7902" y="2091134"/>
            <a:ext cx="540431" cy="540445"/>
          </a:xfrm>
          <a:prstGeom prst="ellipse">
            <a:avLst/>
          </a:prstGeom>
          <a:solidFill>
            <a:srgbClr val="E6DED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6528" y="2239665"/>
            <a:ext cx="243179" cy="24318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7902" y="2803227"/>
            <a:ext cx="313563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spc="-35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Pleasure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47902" y="3187700"/>
            <a:ext cx="3135631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Positive emotions and enjoyable experiences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41605" y="1904702"/>
            <a:ext cx="3508486" cy="2032397"/>
          </a:xfrm>
          <a:prstGeom prst="roundRect">
            <a:avLst>
              <a:gd name="adj" fmla="val 3723"/>
            </a:avLst>
          </a:prstGeom>
          <a:solidFill>
            <a:srgbClr val="F2EDE5"/>
          </a:solidFill>
          <a:ln w="6350">
            <a:solidFill>
              <a:srgbClr val="E6DED2"/>
            </a:solidFill>
            <a:prstDash val="solid"/>
          </a:ln>
          <a:effectLst>
            <a:outerShdw sx="100000" sy="100000" kx="0" ky="0" algn="bl" rotWithShape="0" blurRad="127" dist="22860" dir="2700000">
              <a:srgbClr val="e6ded2">
                <a:alpha val="10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8032" y="2091134"/>
            <a:ext cx="540431" cy="540445"/>
          </a:xfrm>
          <a:prstGeom prst="ellipse">
            <a:avLst/>
          </a:prstGeom>
          <a:solidFill>
            <a:srgbClr val="E6DED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76658" y="2239665"/>
            <a:ext cx="243179" cy="24318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8032" y="2803227"/>
            <a:ext cx="313563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spc="-35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Engagement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4528032" y="3187700"/>
            <a:ext cx="313563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Flow states and deep involvement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021734" y="1904702"/>
            <a:ext cx="3508486" cy="2032397"/>
          </a:xfrm>
          <a:prstGeom prst="roundRect">
            <a:avLst>
              <a:gd name="adj" fmla="val 3723"/>
            </a:avLst>
          </a:prstGeom>
          <a:solidFill>
            <a:srgbClr val="F2EDE5"/>
          </a:solidFill>
          <a:ln w="6350">
            <a:solidFill>
              <a:srgbClr val="E6DED2"/>
            </a:solidFill>
            <a:prstDash val="solid"/>
          </a:ln>
          <a:effectLst>
            <a:outerShdw sx="100000" sy="100000" kx="0" ky="0" algn="bl" rotWithShape="0" blurRad="127" dist="22860" dir="2700000">
              <a:srgbClr val="e6ded2">
                <a:alpha val="10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08162" y="2091134"/>
            <a:ext cx="540431" cy="540445"/>
          </a:xfrm>
          <a:prstGeom prst="ellipse">
            <a:avLst/>
          </a:prstGeom>
          <a:solidFill>
            <a:srgbClr val="E6DED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56788" y="2239665"/>
            <a:ext cx="243179" cy="24318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08162" y="2803227"/>
            <a:ext cx="313563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spc="-35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Relationships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8208162" y="3187700"/>
            <a:ext cx="313563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Strong social bonds and community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61475" y="4108748"/>
            <a:ext cx="5348551" cy="1750913"/>
          </a:xfrm>
          <a:prstGeom prst="roundRect">
            <a:avLst>
              <a:gd name="adj" fmla="val 4322"/>
            </a:avLst>
          </a:prstGeom>
          <a:solidFill>
            <a:srgbClr val="F2EDE5"/>
          </a:solidFill>
          <a:ln w="6350">
            <a:solidFill>
              <a:srgbClr val="E6DED2"/>
            </a:solidFill>
            <a:prstDash val="solid"/>
          </a:ln>
          <a:effectLst>
            <a:outerShdw sx="100000" sy="100000" kx="0" ky="0" algn="bl" rotWithShape="0" blurRad="127" dist="22860" dir="2700000">
              <a:srgbClr val="e6ded2">
                <a:alpha val="10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47902" y="4295180"/>
            <a:ext cx="540431" cy="540445"/>
          </a:xfrm>
          <a:prstGeom prst="ellipse">
            <a:avLst/>
          </a:prstGeom>
          <a:solidFill>
            <a:srgbClr val="E6DED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6528" y="4443710"/>
            <a:ext cx="243179" cy="24318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47902" y="5007273"/>
            <a:ext cx="49756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spc="-35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Meaning</a:t>
            </a:r>
            <a:endParaRPr lang="en-US" sz="1750" dirty="0"/>
          </a:p>
        </p:txBody>
      </p:sp>
      <p:sp>
        <p:nvSpPr>
          <p:cNvPr id="23" name="Text 17"/>
          <p:cNvSpPr/>
          <p:nvPr/>
        </p:nvSpPr>
        <p:spPr>
          <a:xfrm>
            <a:off x="847902" y="5391745"/>
            <a:ext cx="49756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Purpose beyond oneself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6181670" y="4108748"/>
            <a:ext cx="5348551" cy="1750913"/>
          </a:xfrm>
          <a:prstGeom prst="roundRect">
            <a:avLst>
              <a:gd name="adj" fmla="val 4322"/>
            </a:avLst>
          </a:prstGeom>
          <a:solidFill>
            <a:srgbClr val="F2EDE5"/>
          </a:solidFill>
          <a:ln w="6350">
            <a:solidFill>
              <a:srgbClr val="E6DED2"/>
            </a:solidFill>
            <a:prstDash val="solid"/>
          </a:ln>
          <a:effectLst>
            <a:outerShdw sx="100000" sy="100000" kx="0" ky="0" algn="bl" rotWithShape="0" blurRad="127" dist="22860" dir="2700000">
              <a:srgbClr val="e6ded2">
                <a:alpha val="10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368097" y="4295180"/>
            <a:ext cx="540431" cy="540445"/>
          </a:xfrm>
          <a:prstGeom prst="ellipse">
            <a:avLst/>
          </a:prstGeom>
          <a:solidFill>
            <a:srgbClr val="E6DED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16723" y="4443710"/>
            <a:ext cx="243179" cy="24318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368097" y="5007273"/>
            <a:ext cx="49756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spc="-35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Accomplishment</a:t>
            </a:r>
            <a:endParaRPr lang="en-US" sz="1750" dirty="0"/>
          </a:p>
        </p:txBody>
      </p:sp>
      <p:sp>
        <p:nvSpPr>
          <p:cNvPr id="28" name="Text 21"/>
          <p:cNvSpPr/>
          <p:nvPr/>
        </p:nvSpPr>
        <p:spPr>
          <a:xfrm>
            <a:off x="6368097" y="5391745"/>
            <a:ext cx="49756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Growth, mastery, and achievement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661475" y="6052840"/>
            <a:ext cx="1147833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Perceived </a:t>
            </a:r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lack of control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learned helplessness — is one of the strongest predictors of poor well-being. Autonomy matters.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144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spc="-74" kern="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Build for Happiness — Then Measure It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83135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Facilities should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enable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health, connection, and meaning — not substitute for them. A true happiness strategy is intentional.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200598"/>
            <a:ext cx="1117572" cy="6906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4127500"/>
            <a:ext cx="25399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37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Active Leisure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4536182"/>
            <a:ext cx="25399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Design spaces for movement, sport, and creative engagement.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645" y="3200598"/>
            <a:ext cx="1117572" cy="6906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37645" y="4127500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37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Relationships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3437645" y="4536182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Prioritize community spaces that bring people together.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915" y="3200598"/>
            <a:ext cx="1117572" cy="69066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13915" y="4127500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37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Gratitude &amp; Kindness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6213915" y="4536182"/>
            <a:ext cx="254003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Encourage practices that build emotional resilience.</a:t>
            </a:r>
            <a:endParaRPr lang="en-US" sz="14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0184" y="3200598"/>
            <a:ext cx="1117572" cy="69066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90184" y="4127500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37" kern="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Stress &amp; Health Habits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8990184" y="4536182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Support sleep, nutrition, and mental health as foundations.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2026-09-15T05:29:27Z</dcterms:created>
  <dcterms:modified xsi:type="dcterms:W3CDTF">2026-09-15T05:29:27Z</dcterms:modified>
</cp:coreProperties>
</file>